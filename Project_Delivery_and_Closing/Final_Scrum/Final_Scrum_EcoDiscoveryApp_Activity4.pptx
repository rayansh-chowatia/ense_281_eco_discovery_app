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33" r:id="rId5"/>
    <p:sldId id="360" r:id="rId6"/>
    <p:sldId id="370" r:id="rId7"/>
    <p:sldId id="371" r:id="rId8"/>
    <p:sldId id="338" r:id="rId9"/>
    <p:sldId id="372" r:id="rId10"/>
    <p:sldId id="379" r:id="rId11"/>
    <p:sldId id="378" r:id="rId12"/>
    <p:sldId id="380" r:id="rId13"/>
    <p:sldId id="375" r:id="rId14"/>
    <p:sldId id="376" r:id="rId15"/>
    <p:sldId id="363" r:id="rId16"/>
    <p:sldId id="377" r:id="rId17"/>
    <p:sldId id="381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17D80-1FC8-C150-2645-91E1C398351A}" v="744" dt="2026-04-08T19:04:00.642"/>
    <p1510:client id="{2E8C6637-13DC-2DEF-F685-7BBBA1B10339}" v="200" dt="2026-04-08T21:37:45.818"/>
    <p1510:client id="{4DE3778A-D11E-824D-8711-16836F340CE2}" v="4" dt="2026-04-08T19:09:22.177"/>
    <p1510:client id="{7D4A6B8B-7E33-4B56-24B0-721452EE1431}" v="13" dt="2026-04-08T20:58:47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  <a:fld id="{990E4242-8CA0-457D-B3B1-7D78B4164321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://localhost:3000/index.html" TargetMode="Externa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/teacher-checking-pupil-notebooks-gm2160438108-580974135?searchscope=image%2Cfilm" TargetMode="External"/><Relationship Id="rId2" Type="http://schemas.openxmlformats.org/officeDocument/2006/relationships/hyperlink" Target="https://aish.com/school-anxiety-in-children/" TargetMode="External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887869" cy="3606209"/>
          </a:xfrm>
        </p:spPr>
        <p:txBody>
          <a:bodyPr/>
          <a:lstStyle/>
          <a:p>
            <a:r>
              <a:rPr lang="en-US" err="1">
                <a:ea typeface="+mj-lt"/>
                <a:cs typeface="+mj-lt"/>
              </a:rPr>
              <a:t>EcoDiscovery</a:t>
            </a:r>
            <a:r>
              <a:rPr lang="en-US">
                <a:ea typeface="+mj-lt"/>
                <a:cs typeface="+mj-lt"/>
              </a:rPr>
              <a:t>: Interactive Ecosystem Learning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717143"/>
          </a:xfrm>
        </p:spPr>
        <p:txBody>
          <a:bodyPr/>
          <a:lstStyle/>
          <a:p>
            <a:r>
              <a:rPr lang="en-US" sz="4000" b="1">
                <a:ea typeface="+mn-lt"/>
                <a:cs typeface="+mn-lt"/>
              </a:rPr>
              <a:t>Final Scrum Report</a:t>
            </a:r>
            <a:endParaRPr lang="en-US" sz="4000" b="1"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4737862"/>
            <a:ext cx="6472476" cy="2449596"/>
          </a:xfrm>
        </p:spPr>
        <p:txBody>
          <a:bodyPr/>
          <a:lstStyle/>
          <a:p>
            <a:r>
              <a:rPr lang="en-US" sz="1800" b="1">
                <a:cs typeface="Arial"/>
              </a:rPr>
              <a:t>Team Name: Eco Explorers ( Group G)</a:t>
            </a:r>
            <a:endParaRPr lang="en-US"/>
          </a:p>
          <a:p>
            <a:r>
              <a:rPr lang="en-US" sz="1800" b="1">
                <a:ea typeface="+mn-lt"/>
                <a:cs typeface="+mn-lt"/>
              </a:rPr>
              <a:t>Members: Rayansh, Chriss, Jeremiah, </a:t>
            </a:r>
            <a:r>
              <a:rPr lang="en-US" sz="1800" b="1" err="1">
                <a:ea typeface="+mn-lt"/>
                <a:cs typeface="+mn-lt"/>
              </a:rPr>
              <a:t>Abiranna</a:t>
            </a:r>
            <a:endParaRPr lang="en-US" sz="1800" b="1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Course: ENSE 281 – Software Engineering Management </a:t>
            </a:r>
            <a:endParaRPr lang="en-US" sz="1800" b="1">
              <a:cs typeface="Arial"/>
            </a:endParaRPr>
          </a:p>
          <a:p>
            <a:r>
              <a:rPr lang="en-US" sz="1800" b="1">
                <a:ea typeface="+mn-lt"/>
                <a:cs typeface="+mn-lt"/>
              </a:rPr>
              <a:t>Date: 8 April 2026</a:t>
            </a:r>
            <a:endParaRPr lang="en-US" sz="1800" b="1">
              <a:cs typeface="Arial"/>
            </a:endParaRPr>
          </a:p>
          <a:p>
            <a:endParaRPr lang="en-US" sz="1800" b="1">
              <a:cs typeface="Arial"/>
            </a:endParaRPr>
          </a:p>
        </p:txBody>
      </p:sp>
      <p:pic>
        <p:nvPicPr>
          <p:cNvPr id="6" name="Picture 5" descr="A cartoon of a river with fish and plants&#10;&#10;AI-generated content may be incorrect.">
            <a:extLst>
              <a:ext uri="{FF2B5EF4-FFF2-40B4-BE49-F238E27FC236}">
                <a16:creationId xmlns:a16="http://schemas.microsoft.com/office/drawing/2014/main" id="{698F246F-E3F7-433E-8A4E-6B77AE8F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-4761"/>
            <a:ext cx="4897828" cy="68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/>
          <a:lstStyle/>
          <a:p>
            <a:r>
              <a:rPr lang="en-US" altLang="zh-CN"/>
              <a:t>Agenda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Project Overview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/>
          <a:lstStyle/>
          <a:p>
            <a:r>
              <a:rPr lang="en-US" altLang="zh-CN">
                <a:cs typeface="Arial"/>
              </a:rPr>
              <a:t>Problem &amp; Motivation 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5258327"/>
            <a:ext cx="4143375" cy="541840"/>
          </a:xfrm>
        </p:spPr>
        <p:txBody>
          <a:bodyPr/>
          <a:lstStyle/>
          <a:p>
            <a:r>
              <a:rPr lang="en-US" altLang="zh-CN"/>
              <a:t>Vision &amp; Approach</a:t>
            </a:r>
            <a:endParaRPr lang="en-US" altLang="zh-CN"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4433669"/>
            <a:ext cx="4143375" cy="541840"/>
          </a:xfrm>
        </p:spPr>
        <p:txBody>
          <a:bodyPr/>
          <a:lstStyle/>
          <a:p>
            <a:r>
              <a:rPr lang="en-US" altLang="zh-CN"/>
              <a:t>Users</a:t>
            </a:r>
            <a:endParaRPr lang="en-US" altLang="zh-CN"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/>
          <a:lstStyle/>
          <a:p>
            <a:r>
              <a:rPr lang="en-US" altLang="zh-CN">
                <a:cs typeface="Arial"/>
              </a:rPr>
              <a:t>Scrum &amp; Planning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/>
          <a:lstStyle/>
          <a:p>
            <a:r>
              <a:rPr lang="en-US" altLang="zh-CN">
                <a:cs typeface="Arial"/>
              </a:rPr>
              <a:t>System Design (MVC) &amp; MVP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/>
          <a:lstStyle/>
          <a:p>
            <a:r>
              <a:rPr lang="en-US" altLang="zh-CN">
                <a:cs typeface="Arial"/>
              </a:rPr>
              <a:t>Reflection &amp; Future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0A6A2-7330-CDE7-8E62-E4DFAA143597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/>
          <a:p>
            <a:r>
              <a:rPr lang="en-US" altLang="zh-CN"/>
              <a:t>PROBLEM &amp;</a:t>
            </a:r>
            <a:br>
              <a:rPr lang="en-US" altLang="zh-CN"/>
            </a:br>
            <a:r>
              <a:rPr lang="en-US" altLang="zh-CN"/>
              <a:t>MOTIVATION </a:t>
            </a:r>
            <a:br>
              <a:rPr lang="en-US" altLang="zh-CN"/>
            </a:br>
            <a:r>
              <a:rPr lang="en-US" altLang="zh-CN"/>
              <a:t>(Why)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6ABDF-735A-CC28-2800-950147010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Arial"/>
              </a:rPr>
              <a:t>Learners struggle to connect with ecosystems they have never explored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Arial"/>
              </a:rPr>
              <a:t>Low engagement leads to low retention and low conservation awareness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cs typeface="Arial"/>
              </a:rPr>
              <a:t>People care more when they discover, not when they are just told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US">
              <a:cs typeface="Arial"/>
            </a:endParaRPr>
          </a:p>
          <a:p>
            <a:pPr marL="342900" indent="-342900">
              <a:buChar char="•"/>
            </a:pPr>
            <a:endParaRPr lang="en-US">
              <a:cs typeface="Arial"/>
            </a:endParaRPr>
          </a:p>
        </p:txBody>
      </p:sp>
      <p:pic>
        <p:nvPicPr>
          <p:cNvPr id="4" name="Picture 3" descr="School Anxiety in Children | Aish">
            <a:extLst>
              <a:ext uri="{FF2B5EF4-FFF2-40B4-BE49-F238E27FC236}">
                <a16:creationId xmlns:a16="http://schemas.microsoft.com/office/drawing/2014/main" id="{E8F65166-2A70-0B0A-BB9C-AF124A84C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" r="696" b="757"/>
          <a:stretch>
            <a:fillRect/>
          </a:stretch>
        </p:blipFill>
        <p:spPr>
          <a:xfrm>
            <a:off x="4947190" y="1576270"/>
            <a:ext cx="6375298" cy="3696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654CF-68E3-57EA-20B6-ECBEC13A4A97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73B5-54CA-ACB1-79F2-218378190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anchor="ctr">
            <a:normAutofit/>
          </a:bodyPr>
          <a:lstStyle/>
          <a:p>
            <a:r>
              <a:rPr lang="en-US"/>
              <a:t>Target Users (Who)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D7BED31-FC79-4117-6020-C393F946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Primary Users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C527B8-E82C-6FB8-EC11-122869DB9C5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,Sans-Serif"/>
              <a:buChar char="•"/>
            </a:pPr>
            <a:r>
              <a:rPr lang="en-US"/>
              <a:t>Grade 2–3 Students </a:t>
            </a:r>
          </a:p>
          <a:p>
            <a:pPr marL="285750" indent="-285750">
              <a:spcAft>
                <a:spcPts val="600"/>
              </a:spcAft>
              <a:buFont typeface="Arial,Sans-Serif"/>
              <a:buChar char="•"/>
            </a:pPr>
            <a:r>
              <a:rPr lang="en-US"/>
              <a:t>Age: 7–9 years </a:t>
            </a:r>
          </a:p>
          <a:p>
            <a:pPr marL="285750" indent="-285750">
              <a:spcAft>
                <a:spcPts val="600"/>
              </a:spcAft>
              <a:buFont typeface="Arial,Sans-Serif"/>
              <a:buChar char="•"/>
            </a:pPr>
            <a:r>
              <a:rPr lang="en-US"/>
              <a:t>Beginner learners of ecosystems</a:t>
            </a:r>
            <a:endParaRPr lang="en-US"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E0A-84C2-5D72-E9E3-6D72241E55C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Secondary Users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E722F-1CB5-6173-DDDE-2A98ADAEB8B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anchor="t">
            <a:normAutofit/>
          </a:bodyPr>
          <a:lstStyle/>
          <a:p>
            <a:pPr marL="285750" indent="-285750">
              <a:spcAft>
                <a:spcPts val="600"/>
              </a:spcAft>
              <a:buChar char="•"/>
            </a:pPr>
            <a:r>
              <a:rPr lang="en-US">
                <a:cs typeface="Arial"/>
              </a:rPr>
              <a:t>Teachers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lang="en-US">
                <a:cs typeface="Arial"/>
              </a:rPr>
              <a:t>Parents</a:t>
            </a:r>
          </a:p>
        </p:txBody>
      </p:sp>
      <p:pic>
        <p:nvPicPr>
          <p:cNvPr id="15" name="Picture 14" descr="A cartoon of a person and children looking at a tablet&#10;&#10;AI-generated content may be incorrect.">
            <a:extLst>
              <a:ext uri="{FF2B5EF4-FFF2-40B4-BE49-F238E27FC236}">
                <a16:creationId xmlns:a16="http://schemas.microsoft.com/office/drawing/2014/main" id="{EEC8D808-4062-0FC9-9ECF-5915AACB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39" r="9341" b="1"/>
          <a:stretch>
            <a:fillRect/>
          </a:stretch>
        </p:blipFill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  <a:noFill/>
        </p:spPr>
      </p:pic>
      <p:pic>
        <p:nvPicPr>
          <p:cNvPr id="3" name="Picture 2" descr="208,800+ Students And Teacher In Classroom Stock Photos, Pictures &amp;  Royalty-Free Images - iStock">
            <a:extLst>
              <a:ext uri="{FF2B5EF4-FFF2-40B4-BE49-F238E27FC236}">
                <a16:creationId xmlns:a16="http://schemas.microsoft.com/office/drawing/2014/main" id="{EEC46C51-0C33-1723-96E5-0C4DB66AB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31" t="1932" r="21928" b="-2167"/>
          <a:stretch>
            <a:fillRect/>
          </a:stretch>
        </p:blipFill>
        <p:spPr>
          <a:xfrm>
            <a:off x="7182167" y="2025332"/>
            <a:ext cx="4485055" cy="4331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06C11E-C2F0-3CF4-1F20-A1B617DD22E8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58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80"/>
            <a:ext cx="5880910" cy="1527048"/>
          </a:xfrm>
        </p:spPr>
        <p:txBody>
          <a:bodyPr anchor="b">
            <a:normAutofit/>
          </a:bodyPr>
          <a:lstStyle/>
          <a:p>
            <a:r>
              <a:rPr lang="en-US"/>
              <a:t>Vision &amp; Approach (How)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685263"/>
            <a:ext cx="7131956" cy="3487832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/>
              <a:t>Create a fun and interactive learning experience 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/>
              <a:t>Use visual and discovery-based interaction 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/>
              <a:t>Design a simple, child-friendly interface 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/>
              <a:t>Focus on delivering a working MVP with core features</a:t>
            </a:r>
            <a:endParaRPr lang="en-US" sz="1600">
              <a:cs typeface="Arial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71853-D25E-DCE4-8145-FF704CE3F443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9BF9-D002-A11A-E1ED-88E7EBCD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anchor="ctr">
            <a:normAutofit/>
          </a:bodyPr>
          <a:lstStyle/>
          <a:p>
            <a:r>
              <a:rPr lang="en-US" b="1"/>
              <a:t>Key Decisions Guiding Our MVP</a:t>
            </a:r>
            <a:endParaRPr lang="en-US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47967-FEE8-3CDC-43FF-23E050B6F4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Scope Decisions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E6B500-B0DE-A605-DA5F-41A71D9214F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Defined interactive learning flow 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Guided development of click, discover, and learn features 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A183F-A504-D689-517D-B9D3DE10B20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User Stories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C38F7-9126-2578-7A20-07843E85C3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Focused on </a:t>
            </a:r>
            <a:r>
              <a:rPr lang="en-US" b="1"/>
              <a:t>one ecosystem only</a:t>
            </a:r>
            <a:r>
              <a:rPr lang="en-US"/>
              <a:t> 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/>
              <a:t>Prioritized </a:t>
            </a:r>
            <a:r>
              <a:rPr lang="en-US" b="1"/>
              <a:t>core learning features</a:t>
            </a: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pic>
        <p:nvPicPr>
          <p:cNvPr id="7" name="Picture 6" descr="A clipboard with a picture of a pond and a few other objects on a table&#10;&#10;AI-generated content may be incorrect.">
            <a:extLst>
              <a:ext uri="{FF2B5EF4-FFF2-40B4-BE49-F238E27FC236}">
                <a16:creationId xmlns:a16="http://schemas.microsoft.com/office/drawing/2014/main" id="{9FDB9DB3-1EFF-AA58-BC89-CA993C658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63" r="20017" b="1"/>
          <a:stretch>
            <a:fillRect/>
          </a:stretch>
        </p:blipFill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C9D19A-F680-AAD2-516B-08AF25344BF1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3801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97F8-C370-2EA0-2FB6-C849E2A23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anchor="b">
            <a:normAutofit/>
          </a:bodyPr>
          <a:lstStyle/>
          <a:p>
            <a:r>
              <a:rPr lang="en-US"/>
              <a:t>Kanban Board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A318FFF9-5A58-EE5A-FAF9-AB735046801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</p:spPr>
        <p:txBody>
          <a:bodyPr/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0316E-2011-88ED-4F2A-7153D8C71FE8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59412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6809E-DD12-42FC-7D8C-386B5B402DE8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2"/>
          <a:srcRect b="169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48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8C99E2-692F-2FAD-F5C6-84C7FF65CC0E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2"/>
          <a:srcRect t="7241" b="588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561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7D2ECC9-97DC-08B7-84DE-E4BBEB7C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4C76F-619E-7927-04D9-A631E3ECDC2A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9</a:t>
            </a:r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AC3B341D-FA0D-E7D7-C18B-B35A79C4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52" y="364107"/>
            <a:ext cx="11444916" cy="59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3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F952-0CB5-B11C-A402-6F20C8B0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anchor="b">
            <a:normAutofit/>
          </a:bodyPr>
          <a:lstStyle/>
          <a:p>
            <a:r>
              <a:rPr lang="en-US" sz="4000"/>
              <a:t>MVP Demo</a:t>
            </a:r>
          </a:p>
        </p:txBody>
      </p:sp>
      <p:pic>
        <p:nvPicPr>
          <p:cNvPr id="4" name="Content Placeholder 3" descr="Play with solid fill">
            <a:hlinkClick r:id="rId2"/>
            <a:extLst>
              <a:ext uri="{FF2B5EF4-FFF2-40B4-BE49-F238E27FC236}">
                <a16:creationId xmlns:a16="http://schemas.microsoft.com/office/drawing/2014/main" id="{8C72768E-252D-5523-4068-2AF0A4735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5726" y="1945532"/>
            <a:ext cx="4080548" cy="408054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9C48CA-FF70-E18C-9383-9C68B66B136C}"/>
              </a:ext>
            </a:extLst>
          </p:cNvPr>
          <p:cNvSpPr txBox="1"/>
          <p:nvPr/>
        </p:nvSpPr>
        <p:spPr>
          <a:xfrm>
            <a:off x="2540" y="6492239"/>
            <a:ext cx="579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018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Reflection &amp; MVP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63C5F-C72F-D73B-0AB4-6DADC99089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Makes It an MVP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563B7-F46F-DCD9-7049-F6AACE1376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Focused on one ecosystem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Includes core features only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Delivers a working interactive experience</a:t>
            </a:r>
            <a:endParaRPr lang="en-US"/>
          </a:p>
          <a:p>
            <a:pPr lvl="0"/>
            <a:endParaRPr lang="en-US" altLang="zh-CN"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EDA5F-7B7A-A004-46A2-4E5142243E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/>
          <a:lstStyle/>
          <a:p>
            <a:r>
              <a:rPr lang="en-US" altLang="zh-CN"/>
              <a:t>What Can be Improved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A80904-1ABD-3AA9-07B2-DCFBEEE0385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more ecosystems and content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animations and interactions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Enhance engagement features</a:t>
            </a:r>
            <a:endParaRPr lang="en-US"/>
          </a:p>
          <a:p>
            <a:endParaRPr lang="en-US" altLang="zh-CN"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CDB151-7166-0C7D-60DE-4D21F6A0A71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We Are Happy With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02BDF7-4AF6-F187-ABF1-23B2528ED97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/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Simple and child-friendly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Interactive learning experience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Successfully working prototype</a:t>
            </a:r>
            <a:endParaRPr lang="en-US"/>
          </a:p>
          <a:p>
            <a:endParaRPr lang="en-US" altLang="zh-CN">
              <a:cs typeface="Arial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1EE28-64A8-BD4D-D184-AC038F18C6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/>
          <a:lstStyle/>
          <a:p>
            <a:r>
              <a:rPr lang="en-US" altLang="zh-CN"/>
              <a:t>Next MVP Vision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AED071-DA08-CA75-D468-010AAEB3E26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Expand to multiple ecosystems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gamification (rewards, levels)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UI and performance</a:t>
            </a:r>
            <a:endParaRPr lang="en-US"/>
          </a:p>
          <a:p>
            <a:endParaRPr lang="en-US" altLang="zh-CN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874E9-C0C8-0D8B-4864-2308FA06812F}"/>
              </a:ext>
            </a:extLst>
          </p:cNvPr>
          <p:cNvSpPr txBox="1"/>
          <p:nvPr/>
        </p:nvSpPr>
        <p:spPr>
          <a:xfrm>
            <a:off x="2540" y="6492239"/>
            <a:ext cx="431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4D2F-6CED-EE02-B830-2F2056B0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891" y="831919"/>
            <a:ext cx="6910987" cy="36027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  Thank You!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5102-E359-E524-D943-433D29620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6050" y="5523363"/>
            <a:ext cx="10518377" cy="500333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2800" b="1">
                <a:cs typeface="Arial"/>
              </a:rPr>
              <a:t>  Any </a:t>
            </a:r>
            <a:r>
              <a:rPr lang="en-US" sz="2400" b="1">
                <a:cs typeface="Arial"/>
              </a:rPr>
              <a:t>Questions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82E38-5759-4E6F-8C9C-A963D227DCB4}"/>
              </a:ext>
            </a:extLst>
          </p:cNvPr>
          <p:cNvSpPr txBox="1"/>
          <p:nvPr/>
        </p:nvSpPr>
        <p:spPr>
          <a:xfrm>
            <a:off x="2540" y="6492239"/>
            <a:ext cx="8280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33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B24CE-2B21-0FEC-06BE-6DF99C39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5800F-FA7D-9272-72C2-64C15A1285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3136670" y="829443"/>
            <a:ext cx="10518377" cy="500333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2800" b="1">
                <a:cs typeface="Arial"/>
              </a:rPr>
              <a:t>Image Credits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30B891-7424-E1D6-F007-15E3F0A252B8}"/>
              </a:ext>
            </a:extLst>
          </p:cNvPr>
          <p:cNvSpPr txBox="1">
            <a:spLocks/>
          </p:cNvSpPr>
          <p:nvPr/>
        </p:nvSpPr>
        <p:spPr>
          <a:xfrm>
            <a:off x="927330" y="1469523"/>
            <a:ext cx="10518377" cy="14553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Arial"/>
              </a:rPr>
              <a:t>Child at Desk: </a:t>
            </a:r>
            <a:r>
              <a:rPr lang="en-US">
                <a:ea typeface="+mn-lt"/>
                <a:cs typeface="+mn-lt"/>
                <a:hlinkClick r:id="rId2"/>
              </a:rPr>
              <a:t>https://aish.com/school-anxiety-in-children/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Arial"/>
              </a:rPr>
              <a:t>Children and Teacher in Class: </a:t>
            </a:r>
            <a:r>
              <a:rPr lang="en-US">
                <a:ea typeface="+mn-lt"/>
                <a:cs typeface="+mn-lt"/>
                <a:hlinkClick r:id="rId3"/>
              </a:rPr>
              <a:t>https://www.istockphoto.com/photo/teacher-checking-pupil-notebooks-gm2160438108-580974135?searchscope=image%2Cfilm</a:t>
            </a:r>
            <a:endParaRPr lang="en-US">
              <a:ea typeface="+mn-lt"/>
              <a:cs typeface="+mn-lt"/>
            </a:endParaRPr>
          </a:p>
          <a:p>
            <a:endParaRPr lang="en-US"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9839B-0A30-2F8F-7C54-E8F04009FD65}"/>
              </a:ext>
            </a:extLst>
          </p:cNvPr>
          <p:cNvSpPr txBox="1"/>
          <p:nvPr/>
        </p:nvSpPr>
        <p:spPr>
          <a:xfrm>
            <a:off x="2540" y="6492239"/>
            <a:ext cx="1041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0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0D4B54-28E2-4923-AAAE-FE6B2DA9CEF8}">
  <ds:schemaRefs>
    <ds:schemaRef ds:uri="21705155-b4ce-4c69-95dc-4fd6cb8c5571"/>
    <ds:schemaRef ds:uri="38de0ec0-4312-429b-9ba4-a6f7899b8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610C76C-AAF9-4815-AD6C-88260D28D40A}">
  <ds:schemaRefs>
    <ds:schemaRef ds:uri="21705155-b4ce-4c69-95dc-4fd6cb8c5571"/>
    <ds:schemaRef ds:uri="38de0ec0-4312-429b-9ba4-a6f7899b86f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Arial,Sans-Serif</vt:lpstr>
      <vt:lpstr>Franklin Gothic Heavy</vt:lpstr>
      <vt:lpstr>Custom</vt:lpstr>
      <vt:lpstr>EcoDiscovery: Interactive Ecosystem Learning</vt:lpstr>
      <vt:lpstr>Agenda</vt:lpstr>
      <vt:lpstr>PROBLEM &amp; MOTIVATION  (Why)</vt:lpstr>
      <vt:lpstr>Target Users (Who)</vt:lpstr>
      <vt:lpstr>Vision &amp; Approach (How)</vt:lpstr>
      <vt:lpstr>Key Decisions Guiding Our MVP </vt:lpstr>
      <vt:lpstr>Kanban Board</vt:lpstr>
      <vt:lpstr>PowerPoint Presentation</vt:lpstr>
      <vt:lpstr>PowerPoint Presentation</vt:lpstr>
      <vt:lpstr>PowerPoint Presentation</vt:lpstr>
      <vt:lpstr>MVP Demo</vt:lpstr>
      <vt:lpstr>Reflection &amp; MVP Insights</vt:lpstr>
      <vt:lpstr>  Thank You!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rayansh chowatia</dc:creator>
  <cp:lastModifiedBy>rayansh chowatia</cp:lastModifiedBy>
  <cp:revision>15</cp:revision>
  <dcterms:created xsi:type="dcterms:W3CDTF">2026-04-08T15:56:52Z</dcterms:created>
  <dcterms:modified xsi:type="dcterms:W3CDTF">2026-04-11T03:13:09Z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